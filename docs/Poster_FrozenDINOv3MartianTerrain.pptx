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30275213" cy="42803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B2A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1" dt="2026-09-25T00:08:03.355"/>
    <p1510:client id="{63B49141-7B4B-0552-5881-E5374556303C}" v="8" dt="2026-09-24T23:50:24.6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33" d="100"/>
          <a:sy n="33" d="100"/>
        </p:scale>
        <p:origin x="1638" y="3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6/11/relationships/changesInfo" Target="changesInfos/changesInfo1.xml"/><Relationship Id="rId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SAN LUCY PALACIOS SALCEDO" userId="79dcf533be6325ef" providerId="Windows Live" clId="Web-{00000000-0000-0000-0000-000000000000}"/>
    <pc:docChg chg="modSld">
      <pc:chgData name="SUSAN LUCY PALACIOS SALCEDO" userId="79dcf533be6325ef" providerId="Windows Live" clId="Web-{00000000-0000-0000-0000-000000000000}" dt="2026-09-25T00:08:03.355" v="80"/>
      <pc:docMkLst>
        <pc:docMk/>
      </pc:docMkLst>
      <pc:sldChg chg="addSp delSp modSp">
        <pc:chgData name="SUSAN LUCY PALACIOS SALCEDO" userId="79dcf533be6325ef" providerId="Windows Live" clId="Web-{00000000-0000-0000-0000-000000000000}" dt="2026-09-25T00:08:03.355" v="80"/>
        <pc:sldMkLst>
          <pc:docMk/>
          <pc:sldMk cId="0" sldId="256"/>
        </pc:sldMkLst>
        <pc:spChg chg="del mod">
          <ac:chgData name="SUSAN LUCY PALACIOS SALCEDO" userId="79dcf533be6325ef" providerId="Windows Live" clId="Web-{00000000-0000-0000-0000-000000000000}" dt="2026-09-25T00:07:30.588" v="77"/>
          <ac:spMkLst>
            <pc:docMk/>
            <pc:sldMk cId="0" sldId="256"/>
            <ac:spMk id="3" creationId="{00000000-0000-0000-0000-000000000000}"/>
          </ac:spMkLst>
        </pc:spChg>
        <pc:spChg chg="del mod">
          <ac:chgData name="SUSAN LUCY PALACIOS SALCEDO" userId="79dcf533be6325ef" providerId="Windows Live" clId="Web-{00000000-0000-0000-0000-000000000000}" dt="2026-09-25T00:07:31.432" v="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SUSAN LUCY PALACIOS SALCEDO" userId="79dcf533be6325ef" providerId="Windows Live" clId="Web-{00000000-0000-0000-0000-000000000000}" dt="2026-09-25T00:07:04.556" v="71" actId="1076"/>
          <ac:spMkLst>
            <pc:docMk/>
            <pc:sldMk cId="0" sldId="256"/>
            <ac:spMk id="6" creationId="{00000000-0000-0000-0000-000000000000}"/>
          </ac:spMkLst>
        </pc:spChg>
        <pc:spChg chg="mod">
          <ac:chgData name="SUSAN LUCY PALACIOS SALCEDO" userId="79dcf533be6325ef" providerId="Windows Live" clId="Web-{00000000-0000-0000-0000-000000000000}" dt="2026-09-25T00:08:03.355" v="80"/>
          <ac:spMkLst>
            <pc:docMk/>
            <pc:sldMk cId="0" sldId="256"/>
            <ac:spMk id="38" creationId="{00000000-0000-0000-0000-000000000000}"/>
          </ac:spMkLst>
        </pc:spChg>
        <pc:picChg chg="add mod">
          <ac:chgData name="SUSAN LUCY PALACIOS SALCEDO" userId="79dcf533be6325ef" providerId="Windows Live" clId="Web-{00000000-0000-0000-0000-000000000000}" dt="2026-09-25T00:06:27.304" v="62" actId="1076"/>
          <ac:picMkLst>
            <pc:docMk/>
            <pc:sldMk cId="0" sldId="256"/>
            <ac:picMk id="43" creationId="{D895E0D9-A79F-6284-DEEF-6E1E32AB9631}"/>
          </ac:picMkLst>
        </pc:picChg>
        <pc:picChg chg="add del mod">
          <ac:chgData name="SUSAN LUCY PALACIOS SALCEDO" userId="79dcf533be6325ef" providerId="Windows Live" clId="Web-{00000000-0000-0000-0000-000000000000}" dt="2026-09-25T00:05:19.691" v="47"/>
          <ac:picMkLst>
            <pc:docMk/>
            <pc:sldMk cId="0" sldId="256"/>
            <ac:picMk id="44" creationId="{81887B3B-D915-E385-B47E-D81B4E5D4F30}"/>
          </ac:picMkLst>
        </pc:picChg>
        <pc:picChg chg="add mod">
          <ac:chgData name="SUSAN LUCY PALACIOS SALCEDO" userId="79dcf533be6325ef" providerId="Windows Live" clId="Web-{00000000-0000-0000-0000-000000000000}" dt="2026-09-25T00:07:24.463" v="74" actId="1076"/>
          <ac:picMkLst>
            <pc:docMk/>
            <pc:sldMk cId="0" sldId="256"/>
            <ac:picMk id="45" creationId="{6186F5A4-F976-DA4E-86F6-C07234D32654}"/>
          </ac:picMkLst>
        </pc:picChg>
        <pc:picChg chg="del mod">
          <ac:chgData name="SUSAN LUCY PALACIOS SALCEDO" userId="79dcf533be6325ef" providerId="Windows Live" clId="Web-{00000000-0000-0000-0000-000000000000}" dt="2026-09-25T00:07:29.822" v="76"/>
          <ac:picMkLst>
            <pc:docMk/>
            <pc:sldMk cId="0" sldId="256"/>
            <ac:picMk id="49" creationId="{EA073FA5-B7A6-9574-C290-7E7249E38186}"/>
          </ac:picMkLst>
        </pc:picChg>
        <pc:picChg chg="del mod">
          <ac:chgData name="SUSAN LUCY PALACIOS SALCEDO" userId="79dcf533be6325ef" providerId="Windows Live" clId="Web-{00000000-0000-0000-0000-000000000000}" dt="2026-09-25T00:07:32.150" v="79"/>
          <ac:picMkLst>
            <pc:docMk/>
            <pc:sldMk cId="0" sldId="256"/>
            <ac:picMk id="50" creationId="{6B1BD098-CF01-0FAA-97F0-810A3D270A52}"/>
          </ac:picMkLst>
        </pc:picChg>
      </pc:sldChg>
    </pc:docChg>
  </pc:docChgLst>
  <pc:docChgLst>
    <pc:chgData name="SUSAN LUCY PALACIOS SALCEDO" userId="79dcf533be6325ef" providerId="Windows Live" clId="Web-{63B49141-7B4B-0552-5881-E5374556303C}"/>
    <pc:docChg chg="modSld">
      <pc:chgData name="SUSAN LUCY PALACIOS SALCEDO" userId="79dcf533be6325ef" providerId="Windows Live" clId="Web-{63B49141-7B4B-0552-5881-E5374556303C}" dt="2026-09-24T23:50:24.646" v="7"/>
      <pc:docMkLst>
        <pc:docMk/>
      </pc:docMkLst>
      <pc:sldChg chg="addSp delSp modSp">
        <pc:chgData name="SUSAN LUCY PALACIOS SALCEDO" userId="79dcf533be6325ef" providerId="Windows Live" clId="Web-{63B49141-7B4B-0552-5881-E5374556303C}" dt="2026-09-24T23:50:24.646" v="7"/>
        <pc:sldMkLst>
          <pc:docMk/>
          <pc:sldMk cId="0" sldId="256"/>
        </pc:sldMkLst>
        <pc:picChg chg="add del mod">
          <ac:chgData name="SUSAN LUCY PALACIOS SALCEDO" userId="79dcf533be6325ef" providerId="Windows Live" clId="Web-{63B49141-7B4B-0552-5881-E5374556303C}" dt="2026-09-24T23:50:24.646" v="7"/>
          <ac:picMkLst>
            <pc:docMk/>
            <pc:sldMk cId="0" sldId="256"/>
            <ac:picMk id="43" creationId="{D54F7D67-E2EC-CD94-58C7-85BD81DCE0FE}"/>
          </ac:picMkLst>
        </pc:picChg>
      </pc:sldChg>
    </pc:docChg>
  </pc:docChgLst>
</pc:chgInfo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30275784" cy="4500000"/>
          </a:xfrm>
          <a:prstGeom prst="rect">
            <a:avLst/>
          </a:prstGeom>
          <a:solidFill>
            <a:srgbClr val="4B2A82"/>
          </a:solidFill>
          <a:ln>
            <a:solidFill>
              <a:srgbClr val="4B2A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154207" y="689700"/>
            <a:ext cx="19966798" cy="7694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400" b="1" dirty="0">
                <a:solidFill>
                  <a:srgbClr val="FFFFFF"/>
                </a:solidFill>
                <a:latin typeface="Arial"/>
              </a:rPr>
              <a:t>Workshop on Artificial Intelligence</a:t>
            </a:r>
            <a:r>
              <a:rPr lang="es-PE" sz="4400" b="1" dirty="0">
                <a:solidFill>
                  <a:srgbClr val="FFFFFF"/>
                </a:solidFill>
                <a:latin typeface="Arial"/>
              </a:rPr>
              <a:t> a</a:t>
            </a:r>
            <a:r>
              <a:rPr sz="4400" b="1" dirty="0" err="1">
                <a:solidFill>
                  <a:srgbClr val="FFFFFF"/>
                </a:solidFill>
                <a:latin typeface="Arial"/>
              </a:rPr>
              <a:t>nd</a:t>
            </a:r>
            <a:r>
              <a:rPr sz="4400" b="1" dirty="0">
                <a:solidFill>
                  <a:srgbClr val="FFFFFF"/>
                </a:solidFill>
                <a:latin typeface="Arial"/>
              </a:rPr>
              <a:t> Machine Learning Applications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000" y="1440000"/>
            <a:ext cx="27900000" cy="144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4000" b="1" dirty="0">
                <a:solidFill>
                  <a:srgbClr val="FFFFFF"/>
                </a:solidFill>
                <a:latin typeface="Arial"/>
              </a:rPr>
              <a:t>Frozen DINOv3 Features for Martian Terrain Segmentation: Layer-wise Linear Probing on AI4Mars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000" y="3024000"/>
            <a:ext cx="27900000" cy="12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dirty="0">
                <a:solidFill>
                  <a:srgbClr val="FFFFFF"/>
                </a:solidFill>
                <a:latin typeface="Arial"/>
              </a:rPr>
              <a:t>Gonzalo Quispe¹  •  Gustavo Meza¹  •  David Rodríguez¹</a:t>
            </a:r>
          </a:p>
          <a:p>
            <a:pPr algn="ctr"/>
            <a:r>
              <a:rPr sz="2000" b="0" i="0">
                <a:solidFill>
                  <a:srgbClr val="FFFFFF"/>
                </a:solidFill>
                <a:latin typeface="Arial"/>
              </a:rPr>
              <a:t>¹Pontificia Universidad Católica del Perú, Lima, Peru   ·   gquispeo@pucp.edu.pe · meza.gustavo@pucp.edu.pe · david.rodriguezc@pucp.edu.pe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97280" y="40405050"/>
            <a:ext cx="28072080" cy="1800000"/>
          </a:xfrm>
          <a:prstGeom prst="round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es-PE" sz="2500" b="1" dirty="0">
              <a:solidFill>
                <a:srgbClr val="FFFFFF"/>
              </a:solidFill>
              <a:latin typeface="Arial"/>
            </a:endParaRPr>
          </a:p>
          <a:p>
            <a:pPr algn="ctr"/>
            <a:r>
              <a:rPr sz="2800" b="1" dirty="0">
                <a:solidFill>
                  <a:srgbClr val="FFFFFF"/>
                </a:solidFill>
                <a:latin typeface="Arial"/>
              </a:rPr>
              <a:t>BRING YOUR RESEARCH. SHARE YOUR IDEAS. JOIN THE CONVERSATION.</a:t>
            </a:r>
          </a:p>
          <a:p>
            <a:pPr algn="ctr"/>
            <a:r>
              <a:rPr sz="2000" dirty="0" err="1">
                <a:solidFill>
                  <a:srgbClr val="FFFFFF"/>
                </a:solidFill>
                <a:latin typeface="Arial"/>
              </a:rPr>
              <a:t>WAIMLAp</a:t>
            </a:r>
            <a:r>
              <a:rPr sz="2000" dirty="0">
                <a:solidFill>
                  <a:srgbClr val="FFFFFF"/>
                </a:solidFill>
                <a:latin typeface="Arial"/>
              </a:rPr>
              <a:t> 2026  •  November 18–20, 2026  •  Lima, Peru  •  waimlap.org</a:t>
            </a: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D895E0D9-A79F-6284-DEEF-6E1E32AB9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2786" y="329537"/>
            <a:ext cx="3952394" cy="1688412"/>
          </a:xfrm>
          <a:prstGeom prst="rect">
            <a:avLst/>
          </a:prstGeom>
        </p:spPr>
      </p:pic>
      <p:pic>
        <p:nvPicPr>
          <p:cNvPr id="45" name="Picture 44">
            <a:extLst>
              <a:ext uri="{FF2B5EF4-FFF2-40B4-BE49-F238E27FC236}">
                <a16:creationId xmlns:a16="http://schemas.microsoft.com/office/drawing/2014/main" id="{6186F5A4-F976-DA4E-86F6-C07234D32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9239" y="730916"/>
            <a:ext cx="3386394" cy="1012014"/>
          </a:xfrm>
          <a:prstGeom prst="rect">
            <a:avLst/>
          </a:prstGeom>
        </p:spPr>
      </p:pic>
      <p:sp>
        <p:nvSpPr>
          <p:cNvPr id="46" name="Rounded Rectangle 45"/>
          <p:cNvSpPr/>
          <p:nvPr/>
        </p:nvSpPr>
        <p:spPr>
          <a:xfrm>
            <a:off x="1098000" y="4860000"/>
            <a:ext cx="13737600" cy="4484879"/>
          </a:xfrm>
          <a:prstGeom prst="roundRect">
            <a:avLst>
              <a:gd name="adj" fmla="val 1500"/>
            </a:avLst>
          </a:prstGeom>
          <a:solidFill>
            <a:srgbClr val="FAF9FC"/>
          </a:solidFill>
          <a:ln w="25400"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098000" y="4860000"/>
            <a:ext cx="13737600" cy="6588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314000" y="4896000"/>
            <a:ext cx="13305600" cy="576000"/>
          </a:xfrm>
          <a:prstGeom prst="rect">
            <a:avLst/>
          </a:prstGeom>
          <a:noFill/>
        </p:spPr>
        <p:txBody>
          <a:bodyPr wrap="none" tIns="18000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Arial"/>
              </a:rPr>
              <a:t>MOTIVATION &amp; RESEARCH PROBLEM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386000" y="5698800"/>
            <a:ext cx="13161600" cy="4484879"/>
          </a:xfrm>
          <a:prstGeom prst="rect">
            <a:avLst/>
          </a:prstGeom>
          <a:noFill/>
        </p:spPr>
        <p:txBody>
          <a:bodyPr wrap="square" lIns="90000" rIns="90000" tIns="36000" bIns="36000">
            <a:spAutoFit/>
          </a:bodyPr>
          <a:lstStyle/>
          <a:p>
            <a:pPr algn="l">
              <a:spcAft>
                <a:spcPts val="992"/>
              </a:spcAft>
            </a:pPr>
            <a:r>
              <a:rPr sz="3000" b="0" i="0">
                <a:solidFill>
                  <a:srgbClr val="28282D"/>
                </a:solidFill>
                <a:latin typeface="Arial"/>
              </a:rPr>
              <a:t>• Rovers need to recognize the terrain they drive on (soil, bedrock, sand, big rock); expert labels of Mars are scarce and costly.</a:t>
            </a:r>
          </a:p>
          <a:p>
            <a:pPr algn="l">
              <a:spcAft>
                <a:spcPts val="992"/>
              </a:spcAft>
            </a:pPr>
            <a:r>
              <a:rPr sz="3000" b="0" i="0">
                <a:solidFill>
                  <a:srgbClr val="28282D"/>
                </a:solidFill>
                <a:latin typeface="Arial"/>
              </a:rPr>
              <a:t>• DINOv3 is pretrained on web images, far from Mars: grayscale, repetitive textures, unusual illumination.</a:t>
            </a:r>
          </a:p>
          <a:p>
            <a:pPr algn="l">
              <a:spcAft>
                <a:spcPts val="992"/>
              </a:spcAft>
            </a:pPr>
            <a:r>
              <a:rPr sz="3000" b="1" i="0">
                <a:solidFill>
                  <a:srgbClr val="28282D"/>
                </a:solidFill>
                <a:latin typeface="Arial"/>
              </a:rPr>
              <a:t>• Question: </a:t>
            </a:r>
            <a:r>
              <a:rPr sz="3000" b="0" i="0">
                <a:solidFill>
                  <a:srgbClr val="28282D"/>
                </a:solidFill>
                <a:latin typeface="Arial"/>
              </a:rPr>
              <a:t>how well do frozen DINOv3 features transfer to Martian terrain, and which layers carry the useful information?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5429600" y="4860000"/>
            <a:ext cx="13737600" cy="4484879"/>
          </a:xfrm>
          <a:prstGeom prst="roundRect">
            <a:avLst>
              <a:gd name="adj" fmla="val 1500"/>
            </a:avLst>
          </a:prstGeom>
          <a:solidFill>
            <a:srgbClr val="FAF9FC"/>
          </a:solidFill>
          <a:ln w="25400"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5429600" y="4860000"/>
            <a:ext cx="13737600" cy="6588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5645600" y="4896000"/>
            <a:ext cx="13305600" cy="576000"/>
          </a:xfrm>
          <a:prstGeom prst="rect">
            <a:avLst/>
          </a:prstGeom>
          <a:noFill/>
        </p:spPr>
        <p:txBody>
          <a:bodyPr wrap="none" tIns="18000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Arial"/>
              </a:rPr>
              <a:t>OBJECTIVES / CONTRIBUTION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717600" y="5698800"/>
            <a:ext cx="13161600" cy="4484879"/>
          </a:xfrm>
          <a:prstGeom prst="rect">
            <a:avLst/>
          </a:prstGeom>
          <a:noFill/>
        </p:spPr>
        <p:txBody>
          <a:bodyPr wrap="square" lIns="90000" rIns="90000" tIns="36000" bIns="36000">
            <a:spAutoFit/>
          </a:bodyPr>
          <a:lstStyle/>
          <a:p>
            <a:pPr algn="l">
              <a:spcAft>
                <a:spcPts val="992"/>
              </a:spcAft>
            </a:pPr>
            <a:r>
              <a:rPr sz="3000" b="1" i="0">
                <a:solidFill>
                  <a:srgbClr val="28282D"/>
                </a:solidFill>
                <a:latin typeface="Arial"/>
              </a:rPr>
              <a:t>• Study: </a:t>
            </a:r>
            <a:r>
              <a:rPr sz="3000" b="0" i="0">
                <a:solidFill>
                  <a:srgbClr val="28282D"/>
                </a:solidFill>
                <a:latin typeface="Arial"/>
              </a:rPr>
              <a:t>off-the-shelf frozen DINOv3 ViT-B/16 on AI4Mars (Curiosity), 4 terrain classes.</a:t>
            </a:r>
          </a:p>
          <a:p>
            <a:pPr algn="l">
              <a:spcAft>
                <a:spcPts val="992"/>
              </a:spcAft>
            </a:pPr>
            <a:r>
              <a:rPr sz="3000" b="1" i="0">
                <a:solidFill>
                  <a:srgbClr val="28282D"/>
                </a:solidFill>
                <a:latin typeface="Arial"/>
              </a:rPr>
              <a:t>• Approach: </a:t>
            </a:r>
            <a:r>
              <a:rPr sz="3000" b="0" i="0">
                <a:solidFill>
                  <a:srgbClr val="28282D"/>
                </a:solidFill>
                <a:latin typeface="Arial"/>
              </a:rPr>
              <a:t>one linear probe per layer (4.6 k parameters), then a decoder and partial fine-tuning; 3 seeds, bootstrap CIs.</a:t>
            </a:r>
          </a:p>
          <a:p>
            <a:pPr algn="l">
              <a:spcAft>
                <a:spcPts val="992"/>
              </a:spcAft>
            </a:pPr>
            <a:r>
              <a:rPr sz="3000" b="1" i="0">
                <a:solidFill>
                  <a:srgbClr val="28282D"/>
                </a:solidFill>
                <a:latin typeface="Arial"/>
              </a:rPr>
              <a:t>• Related: </a:t>
            </a:r>
            <a:r>
              <a:rPr sz="3000" b="0" i="0">
                <a:solidFill>
                  <a:srgbClr val="28282D"/>
                </a:solidFill>
                <a:latin typeface="Arial"/>
              </a:rPr>
              <a:t>Goh et al. [6] pretrain their own backbone with few labels; MANTLE [7] freezes one for binary boulders. We freeze a web-pretrained backbone for 4 terrain classes.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1098000" y="9668880"/>
            <a:ext cx="13737600" cy="8491677"/>
          </a:xfrm>
          <a:prstGeom prst="roundRect">
            <a:avLst>
              <a:gd name="adj" fmla="val 1500"/>
            </a:avLst>
          </a:prstGeom>
          <a:solidFill>
            <a:srgbClr val="FAF9FC"/>
          </a:solidFill>
          <a:ln w="25400"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98000" y="9668880"/>
            <a:ext cx="13737600" cy="6588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314000" y="9704880"/>
            <a:ext cx="13305600" cy="576000"/>
          </a:xfrm>
          <a:prstGeom prst="rect">
            <a:avLst/>
          </a:prstGeom>
          <a:noFill/>
        </p:spPr>
        <p:txBody>
          <a:bodyPr wrap="none" tIns="18000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Arial"/>
              </a:rPr>
              <a:t>METHODOLOGY</a:t>
            </a:r>
          </a:p>
        </p:txBody>
      </p:sp>
      <p:pic>
        <p:nvPicPr>
          <p:cNvPr id="57" name="Picture 56" descr="fig0_method_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6000" y="10507680"/>
            <a:ext cx="13161600" cy="3497184"/>
          </a:xfrm>
          <a:prstGeom prst="rect">
            <a:avLst/>
          </a:prstGeom>
        </p:spPr>
      </p:pic>
      <p:sp>
        <p:nvSpPr>
          <p:cNvPr id="58" name="TextBox 57"/>
          <p:cNvSpPr txBox="1"/>
          <p:nvPr/>
        </p:nvSpPr>
        <p:spPr>
          <a:xfrm>
            <a:off x="1386000" y="14184717"/>
            <a:ext cx="13161600" cy="8491677"/>
          </a:xfrm>
          <a:prstGeom prst="rect">
            <a:avLst/>
          </a:prstGeom>
          <a:noFill/>
        </p:spPr>
        <p:txBody>
          <a:bodyPr wrap="square" lIns="90000" rIns="90000" tIns="36000" bIns="36000">
            <a:spAutoFit/>
          </a:bodyPr>
          <a:lstStyle/>
          <a:p>
            <a:pPr algn="l">
              <a:spcAft>
                <a:spcPts val="992"/>
              </a:spcAft>
            </a:pPr>
            <a:r>
              <a:rPr sz="3000" b="1" i="0">
                <a:solidFill>
                  <a:srgbClr val="28282D"/>
                </a:solidFill>
                <a:latin typeface="Arial"/>
              </a:rPr>
              <a:t>• Data: </a:t>
            </a:r>
            <a:r>
              <a:rPr sz="3000" b="0" i="0">
                <a:solidFill>
                  <a:srgbClr val="28282D"/>
                </a:solidFill>
                <a:latin typeface="Arial"/>
              </a:rPr>
              <a:t>AI4Mars, 512 px; 15,564 train, 500 validation (temporal hold-out), 322 expert test images (M1, M2, M3).</a:t>
            </a:r>
          </a:p>
          <a:p>
            <a:pPr algn="l">
              <a:spcAft>
                <a:spcPts val="992"/>
              </a:spcAft>
            </a:pPr>
            <a:r>
              <a:rPr sz="3000" b="1" i="0">
                <a:solidFill>
                  <a:srgbClr val="28282D"/>
                </a:solidFill>
                <a:latin typeface="Arial"/>
              </a:rPr>
              <a:t>• Model: </a:t>
            </a:r>
            <a:r>
              <a:rPr sz="3000" b="0" i="0">
                <a:solidFill>
                  <a:srgbClr val="28282D"/>
                </a:solidFill>
                <a:latin typeface="Arial"/>
              </a:rPr>
              <a:t>frozen DINOv3 ViT-B/16; probe per layer (4.6 k), decoder (3.5 M), last 2 / 4 blocks fine-tuned (14 M / 28 M).</a:t>
            </a:r>
          </a:p>
          <a:p>
            <a:pPr algn="l">
              <a:spcAft>
                <a:spcPts val="992"/>
              </a:spcAft>
            </a:pPr>
            <a:r>
              <a:rPr sz="3000" b="1" i="0">
                <a:solidFill>
                  <a:srgbClr val="28282D"/>
                </a:solidFill>
                <a:latin typeface="Arial"/>
              </a:rPr>
              <a:t>• Evaluation: </a:t>
            </a:r>
            <a:r>
              <a:rPr sz="3000" b="0" i="0">
                <a:solidFill>
                  <a:srgbClr val="28282D"/>
                </a:solidFill>
                <a:latin typeface="Arial"/>
              </a:rPr>
              <a:t>mIoU; layers chosen on validation; a gap is real if its 95 % bootstrap CI excludes 0 and |Δ| ≥ 0.01.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98000" y="18484557"/>
            <a:ext cx="13737600" cy="9324720"/>
          </a:xfrm>
          <a:prstGeom prst="roundRect">
            <a:avLst>
              <a:gd name="adj" fmla="val 1500"/>
            </a:avLst>
          </a:prstGeom>
          <a:solidFill>
            <a:srgbClr val="FAF9FC"/>
          </a:solidFill>
          <a:ln w="25400"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098000" y="18484557"/>
            <a:ext cx="13737600" cy="6588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314000" y="18520557"/>
            <a:ext cx="13305600" cy="576000"/>
          </a:xfrm>
          <a:prstGeom prst="rect">
            <a:avLst/>
          </a:prstGeom>
          <a:noFill/>
        </p:spPr>
        <p:txBody>
          <a:bodyPr wrap="none" tIns="18000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Arial"/>
              </a:rPr>
              <a:t>WHERE IT FAILS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386000" y="19323357"/>
            <a:ext cx="13161600" cy="9324720"/>
          </a:xfrm>
          <a:prstGeom prst="rect">
            <a:avLst/>
          </a:prstGeom>
          <a:noFill/>
        </p:spPr>
        <p:txBody>
          <a:bodyPr wrap="square" lIns="90000" rIns="90000" tIns="36000" bIns="36000">
            <a:spAutoFit/>
          </a:bodyPr>
          <a:lstStyle/>
          <a:p>
            <a:pPr algn="l">
              <a:spcAft>
                <a:spcPts val="992"/>
              </a:spcAft>
            </a:pPr>
            <a:r>
              <a:rPr sz="3000" b="1" i="0">
                <a:solidFill>
                  <a:srgbClr val="28282D"/>
                </a:solidFill>
                <a:latin typeface="Arial"/>
              </a:rPr>
              <a:t>• Big rock is the hardest class: </a:t>
            </a:r>
            <a:r>
              <a:rPr sz="3000" b="0" i="0">
                <a:solidFill>
                  <a:srgbClr val="28282D"/>
                </a:solidFill>
                <a:latin typeface="Arial"/>
              </a:rPr>
              <a:t>IoU 0.24 on validation (others 0.62–0.88); 69 % of it is predicted as bedrock.</a:t>
            </a:r>
          </a:p>
          <a:p>
            <a:pPr algn="l">
              <a:spcAft>
                <a:spcPts val="992"/>
              </a:spcAft>
            </a:pPr>
            <a:r>
              <a:rPr sz="3000" b="1" i="0">
                <a:solidFill>
                  <a:srgbClr val="28282D"/>
                </a:solidFill>
                <a:latin typeface="Arial"/>
              </a:rPr>
              <a:t>• M3 hides this: </a:t>
            </a:r>
            <a:r>
              <a:rPr sz="3000" b="0" i="0">
                <a:solidFill>
                  <a:srgbClr val="28282D"/>
                </a:solidFill>
                <a:latin typeface="Arial"/>
              </a:rPr>
              <a:t>only 5 of its 322 images contain big rock. Models differ in false alarms (probe 109 k px, decoder 16 k px), which drives the M3 gap (0.83 vs 0.93).</a:t>
            </a:r>
          </a:p>
          <a:p>
            <a:pPr algn="l">
              <a:spcAft>
                <a:spcPts val="992"/>
              </a:spcAft>
            </a:pPr>
            <a:r>
              <a:rPr sz="3000" b="1" i="0">
                <a:solidFill>
                  <a:srgbClr val="28282D"/>
                </a:solidFill>
                <a:latin typeface="Arial"/>
              </a:rPr>
              <a:t>• Size alone does not explain misses </a:t>
            </a:r>
            <a:r>
              <a:rPr sz="3000" b="0" i="0">
                <a:solidFill>
                  <a:srgbClr val="28282D"/>
                </a:solidFill>
                <a:latin typeface="Arial"/>
              </a:rPr>
              <a:t>(inconclusive).</a:t>
            </a:r>
          </a:p>
        </p:txBody>
      </p:sp>
      <p:pic>
        <p:nvPicPr>
          <p:cNvPr id="63" name="Picture 62" descr="fig7_m3_bigro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6800" y="22405677"/>
            <a:ext cx="12960000" cy="4768264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386000" y="27282957"/>
            <a:ext cx="13161600" cy="382319"/>
          </a:xfrm>
          <a:prstGeom prst="rect">
            <a:avLst/>
          </a:prstGeom>
          <a:noFill/>
        </p:spPr>
        <p:txBody>
          <a:bodyPr wrap="square" lIns="90000" rIns="90000" tIns="36000" bIns="360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1">
                <a:solidFill>
                  <a:srgbClr val="64646E"/>
                </a:solidFill>
                <a:latin typeface="Arial"/>
              </a:rPr>
              <a:t>Fig. 7. Big rock in test M3 (mean of 3 seeds): true and false positives (left); mIoU with and without that class (right).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5429600" y="9668880"/>
            <a:ext cx="13737600" cy="25341592"/>
          </a:xfrm>
          <a:prstGeom prst="roundRect">
            <a:avLst>
              <a:gd name="adj" fmla="val 1500"/>
            </a:avLst>
          </a:prstGeom>
          <a:solidFill>
            <a:srgbClr val="FAF9FC"/>
          </a:solidFill>
          <a:ln w="25400"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5429600" y="9668880"/>
            <a:ext cx="13737600" cy="6588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5645600" y="9704880"/>
            <a:ext cx="13305600" cy="576000"/>
          </a:xfrm>
          <a:prstGeom prst="rect">
            <a:avLst/>
          </a:prstGeom>
          <a:noFill/>
        </p:spPr>
        <p:txBody>
          <a:bodyPr wrap="none" tIns="18000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Arial"/>
              </a:rPr>
              <a:t>RESULTS &amp; DISCUSSION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5717600" y="10507680"/>
            <a:ext cx="13161600" cy="360000"/>
          </a:xfrm>
          <a:prstGeom prst="rect">
            <a:avLst/>
          </a:prstGeom>
          <a:noFill/>
        </p:spPr>
        <p:txBody>
          <a:bodyPr wrap="square" lIns="90000" rIns="90000" tIns="36000" bIns="36000">
            <a:spAutoFit/>
          </a:bodyPr>
          <a:lstStyle/>
          <a:p>
            <a:pPr algn="l">
              <a:spcAft>
                <a:spcPts val="992"/>
              </a:spcAft>
            </a:pPr>
            <a:r>
              <a:rPr sz="2800" b="1" i="0">
                <a:solidFill>
                  <a:srgbClr val="28282D"/>
                </a:solidFill>
                <a:latin typeface="Arial"/>
              </a:rPr>
              <a:t>• Transfer: </a:t>
            </a:r>
            <a:r>
              <a:rPr sz="2800" b="0" i="0">
                <a:solidFill>
                  <a:srgbClr val="28282D"/>
                </a:solidFill>
                <a:latin typeface="Arial"/>
              </a:rPr>
              <a:t>final-layer probe reaches mIoU 0.677 / 0.725 on test M1 / M2 (majority class: 0.115 / 0.123).</a:t>
            </a:r>
          </a:p>
          <a:p>
            <a:pPr algn="l">
              <a:spcAft>
                <a:spcPts val="992"/>
              </a:spcAft>
            </a:pPr>
            <a:r>
              <a:rPr sz="2800" b="1" i="0">
                <a:solidFill>
                  <a:srgbClr val="28282D"/>
                </a:solidFill>
                <a:latin typeface="Arial"/>
              </a:rPr>
              <a:t>• Heavier heads add little: </a:t>
            </a:r>
            <a:r>
              <a:rPr sz="2800" b="0" i="0">
                <a:solidFill>
                  <a:srgbClr val="28282D"/>
                </a:solidFill>
                <a:latin typeface="Arial"/>
              </a:rPr>
              <a:t>decoder 0.684 / 0.735, last 4 blocks 0.687 / 0.737 (≤ +0.012).</a:t>
            </a:r>
          </a:p>
          <a:p>
            <a:pPr algn="l">
              <a:spcAft>
                <a:spcPts val="992"/>
              </a:spcAft>
            </a:pPr>
            <a:r>
              <a:rPr sz="2800" b="1" i="0">
                <a:solidFill>
                  <a:srgbClr val="28282D"/>
                </a:solidFill>
                <a:latin typeface="Arial"/>
              </a:rPr>
              <a:t>• Pretraining: </a:t>
            </a:r>
            <a:r>
              <a:rPr sz="2800" b="0" i="0">
                <a:solidFill>
                  <a:srgbClr val="28282D"/>
                </a:solidFill>
                <a:latin typeface="Arial"/>
              </a:rPr>
              <a:t>a frozen random ViT gets 0.264, only a lower bound (no from-scratch control). DINOv3 beats DINOv2 by +0.013 on M1 (both at N = 2,000), also at a matched token grid.</a:t>
            </a:r>
          </a:p>
          <a:p>
            <a:pPr algn="l">
              <a:spcAft>
                <a:spcPts val="992"/>
              </a:spcAft>
            </a:pPr>
            <a:r>
              <a:rPr sz="2800" b="1" i="0">
                <a:solidFill>
                  <a:srgbClr val="28282D"/>
                </a:solidFill>
                <a:latin typeface="Arial"/>
              </a:rPr>
              <a:t>• Baselines: </a:t>
            </a:r>
            <a:r>
              <a:rPr sz="2800" b="0" i="0">
                <a:solidFill>
                  <a:srgbClr val="28282D"/>
                </a:solidFill>
                <a:latin typeface="Arial"/>
              </a:rPr>
              <a:t>0.023 / 0.015 below the best end-to-end model (indicative only), with 4.6 k instead of 58.8–81.2 M parameters.</a:t>
            </a:r>
          </a:p>
          <a:p>
            <a:pPr algn="l">
              <a:spcAft>
                <a:spcPts val="992"/>
              </a:spcAft>
            </a:pPr>
            <a:r>
              <a:rPr sz="2800" b="1" i="0">
                <a:solidFill>
                  <a:srgbClr val="28282D"/>
                </a:solidFill>
                <a:latin typeface="Arial"/>
              </a:rPr>
              <a:t>• Layers and labels: </a:t>
            </a:r>
            <a:r>
              <a:rPr sz="2800" b="0" i="0">
                <a:solidFill>
                  <a:srgbClr val="28282D"/>
                </a:solidFill>
                <a:latin typeface="Arial"/>
              </a:rPr>
              <a:t>no intermediate layer beats the last; 250 images give 99 % of the probe's mIoU.</a:t>
            </a:r>
          </a:p>
        </p:txBody>
      </p:sp>
      <p:pic>
        <p:nvPicPr>
          <p:cNvPr id="69" name="Picture 68" descr="fig1_layer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823456" y="17625600"/>
            <a:ext cx="8949888" cy="2843810"/>
          </a:xfrm>
          <a:prstGeom prst="rect">
            <a:avLst/>
          </a:prstGeom>
        </p:spPr>
      </p:pic>
      <p:sp>
        <p:nvSpPr>
          <p:cNvPr id="70" name="TextBox 69"/>
          <p:cNvSpPr txBox="1"/>
          <p:nvPr/>
        </p:nvSpPr>
        <p:spPr>
          <a:xfrm>
            <a:off x="15717600" y="20505410"/>
            <a:ext cx="13161600" cy="656639"/>
          </a:xfrm>
          <a:prstGeom prst="rect">
            <a:avLst/>
          </a:prstGeom>
          <a:noFill/>
        </p:spPr>
        <p:txBody>
          <a:bodyPr wrap="square" lIns="90000" rIns="90000" tIns="36000" bIns="360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1">
                <a:solidFill>
                  <a:srgbClr val="64646E"/>
                </a:solidFill>
                <a:latin typeface="Arial"/>
              </a:rPr>
              <a:t>Fig. 1. mIoU per layer of frozen DINOv3 (validation ± sd over 3 seeds; test sets with 95 % bootstrap CI) and per-class IoU on validation.</a:t>
            </a:r>
          </a:p>
        </p:txBody>
      </p:sp>
      <p:pic>
        <p:nvPicPr>
          <p:cNvPr id="71" name="Picture 70" descr="fig2_backbone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717600" y="21234050"/>
            <a:ext cx="7668000" cy="3131534"/>
          </a:xfrm>
          <a:prstGeom prst="rect">
            <a:avLst/>
          </a:prstGeom>
        </p:spPr>
      </p:pic>
      <p:pic>
        <p:nvPicPr>
          <p:cNvPr id="72" name="Picture 71" descr="fig5_border_ban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529600" y="21234050"/>
            <a:ext cx="5328000" cy="3202886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15717600" y="24472936"/>
            <a:ext cx="7668000" cy="656639"/>
          </a:xfrm>
          <a:prstGeom prst="rect">
            <a:avLst/>
          </a:prstGeom>
          <a:noFill/>
        </p:spPr>
        <p:txBody>
          <a:bodyPr wrap="square" lIns="90000" rIns="90000" tIns="36000" bIns="360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1">
                <a:solidFill>
                  <a:srgbClr val="64646E"/>
                </a:solidFill>
                <a:latin typeface="Arial"/>
              </a:rPr>
              <a:t>Fig. 2. Frozen backbones, same probe (DINOv3, DINOv2 at two input sizes, random init).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529600" y="24472936"/>
            <a:ext cx="5328000" cy="382319"/>
          </a:xfrm>
          <a:prstGeom prst="rect">
            <a:avLst/>
          </a:prstGeom>
          <a:noFill/>
        </p:spPr>
        <p:txBody>
          <a:bodyPr wrap="square" lIns="90000" rIns="90000" tIns="36000" bIns="360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1">
                <a:solidFill>
                  <a:srgbClr val="64646E"/>
                </a:solidFill>
                <a:latin typeface="Arial"/>
              </a:rPr>
              <a:t>Fig. 3. Excluding label borders (M1).</a:t>
            </a:r>
          </a:p>
        </p:txBody>
      </p:sp>
      <p:pic>
        <p:nvPicPr>
          <p:cNvPr id="75" name="Picture 74" descr="fig4_baseline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7823456" y="25201576"/>
            <a:ext cx="8949888" cy="2790152"/>
          </a:xfrm>
          <a:prstGeom prst="rect">
            <a:avLst/>
          </a:prstGeom>
        </p:spPr>
      </p:pic>
      <p:sp>
        <p:nvSpPr>
          <p:cNvPr id="76" name="TextBox 75"/>
          <p:cNvSpPr txBox="1"/>
          <p:nvPr/>
        </p:nvSpPr>
        <p:spPr>
          <a:xfrm>
            <a:off x="15717600" y="28027728"/>
            <a:ext cx="13161600" cy="382319"/>
          </a:xfrm>
          <a:prstGeom prst="rect">
            <a:avLst/>
          </a:prstGeom>
          <a:noFill/>
        </p:spPr>
        <p:txBody>
          <a:bodyPr wrap="square" lIns="90000" rIns="90000" tIns="36000" bIns="360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1">
                <a:solidFill>
                  <a:srgbClr val="64646E"/>
                </a:solidFill>
                <a:latin typeface="Arial"/>
              </a:rPr>
              <a:t>Fig. 4. Comparison with published baselines (M1–M3; M3 is dominated by big-rock false alarms) and trainable parameters.</a:t>
            </a:r>
          </a:p>
        </p:txBody>
      </p:sp>
      <p:pic>
        <p:nvPicPr>
          <p:cNvPr id="77" name="Picture 76" descr="fig3_label_efficiency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942192" y="28482048"/>
            <a:ext cx="6712416" cy="2691201"/>
          </a:xfrm>
          <a:prstGeom prst="rect">
            <a:avLst/>
          </a:prstGeom>
        </p:spPr>
      </p:pic>
      <p:sp>
        <p:nvSpPr>
          <p:cNvPr id="78" name="TextBox 77"/>
          <p:cNvSpPr txBox="1"/>
          <p:nvPr/>
        </p:nvSpPr>
        <p:spPr>
          <a:xfrm>
            <a:off x="15717600" y="31209249"/>
            <a:ext cx="13161600" cy="382319"/>
          </a:xfrm>
          <a:prstGeom prst="rect">
            <a:avLst/>
          </a:prstGeom>
          <a:noFill/>
        </p:spPr>
        <p:txBody>
          <a:bodyPr wrap="square" lIns="90000" rIns="90000" tIns="36000" bIns="360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1">
                <a:solidFill>
                  <a:srgbClr val="64646E"/>
                </a:solidFill>
                <a:latin typeface="Arial"/>
              </a:rPr>
              <a:t>Fig. 5. Label efficiency: linear probe vs fine-tuning the last 2 or 4 blocks (± sd over 3 seeds).</a:t>
            </a:r>
          </a:p>
        </p:txBody>
      </p:sp>
      <p:pic>
        <p:nvPicPr>
          <p:cNvPr id="79" name="Picture 78" descr="fig6_confusion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5717600" y="31663569"/>
            <a:ext cx="5760000" cy="2712584"/>
          </a:xfrm>
          <a:prstGeom prst="rect">
            <a:avLst/>
          </a:prstGeom>
        </p:spPr>
      </p:pic>
      <p:sp>
        <p:nvSpPr>
          <p:cNvPr id="80" name="TextBox 79"/>
          <p:cNvSpPr txBox="1"/>
          <p:nvPr/>
        </p:nvSpPr>
        <p:spPr>
          <a:xfrm>
            <a:off x="21621600" y="31735569"/>
            <a:ext cx="7257600" cy="2712584"/>
          </a:xfrm>
          <a:prstGeom prst="rect">
            <a:avLst/>
          </a:prstGeom>
          <a:noFill/>
        </p:spPr>
        <p:txBody>
          <a:bodyPr wrap="square" lIns="90000" rIns="90000" tIns="36000" bIns="36000">
            <a:spAutoFit/>
          </a:bodyPr>
          <a:lstStyle/>
          <a:p>
            <a:pPr algn="l">
              <a:spcAft>
                <a:spcPts val="708"/>
              </a:spcAft>
            </a:pPr>
            <a:r>
              <a:rPr sz="2000" b="1" i="0">
                <a:solidFill>
                  <a:srgbClr val="28282D"/>
                </a:solidFill>
                <a:latin typeface="Arial"/>
              </a:rPr>
              <a:t>Main confusions </a:t>
            </a:r>
            <a:r>
              <a:rPr sz="2000" b="0" i="0">
                <a:solidFill>
                  <a:srgbClr val="28282D"/>
                </a:solidFill>
                <a:latin typeface="Arial"/>
              </a:rPr>
              <a:t>(validation, row-normalised, probe / decoder):</a:t>
            </a:r>
          </a:p>
          <a:p>
            <a:pPr algn="l">
              <a:spcAft>
                <a:spcPts val="708"/>
              </a:spcAft>
            </a:pPr>
            <a:r>
              <a:rPr sz="2000" b="0" i="0">
                <a:solidFill>
                  <a:srgbClr val="28282D"/>
                </a:solidFill>
                <a:latin typeface="Arial"/>
              </a:rPr>
              <a:t>big rock → bedrock 68.6 % / 60.0 %</a:t>
            </a:r>
          </a:p>
          <a:p>
            <a:pPr algn="l">
              <a:spcAft>
                <a:spcPts val="708"/>
              </a:spcAft>
            </a:pPr>
            <a:r>
              <a:rPr sz="2000" b="0" i="0">
                <a:solidFill>
                  <a:srgbClr val="28282D"/>
                </a:solidFill>
                <a:latin typeface="Arial"/>
              </a:rPr>
              <a:t>sand → soil 20.5 % / 21.3 %</a:t>
            </a:r>
          </a:p>
          <a:p>
            <a:pPr algn="l">
              <a:spcAft>
                <a:spcPts val="708"/>
              </a:spcAft>
            </a:pPr>
            <a:r>
              <a:rPr sz="2000" b="0" i="0">
                <a:solidFill>
                  <a:srgbClr val="28282D"/>
                </a:solidFill>
                <a:latin typeface="Arial"/>
              </a:rPr>
              <a:t>sand → bedrock 4.2 % / 3.4 %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5717600" y="34412153"/>
            <a:ext cx="13161600" cy="382319"/>
          </a:xfrm>
          <a:prstGeom prst="rect">
            <a:avLst/>
          </a:prstGeom>
          <a:noFill/>
        </p:spPr>
        <p:txBody>
          <a:bodyPr wrap="square" lIns="90000" rIns="90000" tIns="36000" bIns="36000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0" i="1">
                <a:solidFill>
                  <a:srgbClr val="64646E"/>
                </a:solidFill>
                <a:latin typeface="Arial"/>
              </a:rPr>
              <a:t>Fig. 6. Row-normalised confusion matrices on validation: linear probe on the final layer (left) and decoder (right).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098000" y="28133277"/>
            <a:ext cx="13737600" cy="6073919"/>
          </a:xfrm>
          <a:prstGeom prst="roundRect">
            <a:avLst>
              <a:gd name="adj" fmla="val 1500"/>
            </a:avLst>
          </a:prstGeom>
          <a:solidFill>
            <a:srgbClr val="FAF9FC"/>
          </a:solidFill>
          <a:ln w="25400"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98000" y="28133277"/>
            <a:ext cx="13737600" cy="6588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1314000" y="28169277"/>
            <a:ext cx="13305600" cy="576000"/>
          </a:xfrm>
          <a:prstGeom prst="rect">
            <a:avLst/>
          </a:prstGeom>
          <a:noFill/>
        </p:spPr>
        <p:txBody>
          <a:bodyPr wrap="none" tIns="18000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Arial"/>
              </a:rPr>
              <a:t>CONCLUSIONS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386000" y="28972077"/>
            <a:ext cx="13161600" cy="6073919"/>
          </a:xfrm>
          <a:prstGeom prst="rect">
            <a:avLst/>
          </a:prstGeom>
          <a:noFill/>
        </p:spPr>
        <p:txBody>
          <a:bodyPr wrap="square" lIns="90000" rIns="90000" tIns="36000" bIns="36000">
            <a:spAutoFit/>
          </a:bodyPr>
          <a:lstStyle/>
          <a:p>
            <a:pPr algn="l">
              <a:spcAft>
                <a:spcPts val="992"/>
              </a:spcAft>
            </a:pPr>
            <a:r>
              <a:rPr sz="3000" b="1" i="0">
                <a:solidFill>
                  <a:srgbClr val="28282D"/>
                </a:solidFill>
                <a:latin typeface="Arial"/>
              </a:rPr>
              <a:t>• Frozen DINOv3 transfers to Mars: </a:t>
            </a:r>
            <a:r>
              <a:rPr sz="3000" b="0" i="0">
                <a:solidFill>
                  <a:srgbClr val="28282D"/>
                </a:solidFill>
                <a:latin typeface="Arial"/>
              </a:rPr>
              <a:t>a 4.6 k-parameter probe is within 0.025 mIoU of the best published end-to-end model on M1 / M2; heavier heads add ≤ 0.012.</a:t>
            </a:r>
          </a:p>
          <a:p>
            <a:pPr algn="l">
              <a:spcAft>
                <a:spcPts val="992"/>
              </a:spcAft>
            </a:pPr>
            <a:r>
              <a:rPr sz="3000" b="1" i="0">
                <a:solidFill>
                  <a:srgbClr val="28282D"/>
                </a:solidFill>
                <a:latin typeface="Arial"/>
              </a:rPr>
              <a:t>• Pretrained features matter </a:t>
            </a:r>
            <a:r>
              <a:rPr sz="3000" b="0" i="0">
                <a:solidFill>
                  <a:srgbClr val="28282D"/>
                </a:solidFill>
                <a:latin typeface="Arial"/>
              </a:rPr>
              <a:t>(+0.41 over a frozen random ViT, +0.013 over DINOv2); no intermediate layer helps.</a:t>
            </a:r>
          </a:p>
          <a:p>
            <a:pPr algn="l">
              <a:spcAft>
                <a:spcPts val="992"/>
              </a:spcAft>
            </a:pPr>
            <a:r>
              <a:rPr sz="3000" b="1" i="0">
                <a:solidFill>
                  <a:srgbClr val="28282D"/>
                </a:solidFill>
                <a:latin typeface="Arial"/>
              </a:rPr>
              <a:t>• Limits: </a:t>
            </a:r>
            <a:r>
              <a:rPr sz="3000" b="0" i="0">
                <a:solidFill>
                  <a:srgbClr val="28282D"/>
                </a:solidFill>
                <a:latin typeface="Arial"/>
              </a:rPr>
              <a:t>one backbone, one rover, 3 seeds; only 1 of 6 hypotheses supported (H4: a decoder does not beat the probe); no from-scratch control; M3 cannot rank models on big rock.</a:t>
            </a:r>
          </a:p>
          <a:p>
            <a:pPr algn="l">
              <a:spcAft>
                <a:spcPts val="992"/>
              </a:spcAft>
            </a:pPr>
            <a:r>
              <a:rPr sz="3000" b="1" i="0">
                <a:solidFill>
                  <a:srgbClr val="28282D"/>
                </a:solidFill>
                <a:latin typeface="Arial"/>
              </a:rPr>
              <a:t>• Next: </a:t>
            </a:r>
            <a:r>
              <a:rPr sz="3000" b="0" i="0">
                <a:solidFill>
                  <a:srgbClr val="28282D"/>
                </a:solidFill>
                <a:latin typeface="Arial"/>
              </a:rPr>
              <a:t>same-protocol baseline, from-scratch control, other rovers.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1098000" y="35334472"/>
            <a:ext cx="13737600" cy="4875599"/>
          </a:xfrm>
          <a:prstGeom prst="roundRect">
            <a:avLst>
              <a:gd name="adj" fmla="val 1500"/>
            </a:avLst>
          </a:prstGeom>
          <a:solidFill>
            <a:srgbClr val="FAF9FC"/>
          </a:solidFill>
          <a:ln w="25400"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1098000" y="35334472"/>
            <a:ext cx="13737600" cy="6588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1314000" y="35370472"/>
            <a:ext cx="13305600" cy="576000"/>
          </a:xfrm>
          <a:prstGeom prst="rect">
            <a:avLst/>
          </a:prstGeom>
          <a:noFill/>
        </p:spPr>
        <p:txBody>
          <a:bodyPr wrap="none" tIns="18000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Arial"/>
              </a:rPr>
              <a:t>KEY REFERENCES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386000" y="36173272"/>
            <a:ext cx="13161600" cy="4875599"/>
          </a:xfrm>
          <a:prstGeom prst="rect">
            <a:avLst/>
          </a:prstGeom>
          <a:noFill/>
        </p:spPr>
        <p:txBody>
          <a:bodyPr wrap="square" lIns="90000" rIns="90000" tIns="36000" bIns="36000">
            <a:spAutoFit/>
          </a:bodyPr>
          <a:lstStyle/>
          <a:p>
            <a:pPr algn="l">
              <a:spcAft>
                <a:spcPts val="566"/>
              </a:spcAft>
            </a:pPr>
            <a:r>
              <a:rPr sz="2000" b="0" i="0">
                <a:solidFill>
                  <a:srgbClr val="28282D"/>
                </a:solidFill>
                <a:latin typeface="Arial"/>
              </a:rPr>
              <a:t>[1] O. Siméoni et al., “DINOv3,” arXiv:2508.10104, 2025.</a:t>
            </a:r>
          </a:p>
          <a:p>
            <a:pPr algn="l">
              <a:spcAft>
                <a:spcPts val="566"/>
              </a:spcAft>
            </a:pPr>
            <a:r>
              <a:rPr sz="2000" b="0" i="0">
                <a:solidFill>
                  <a:srgbClr val="28282D"/>
                </a:solidFill>
                <a:latin typeface="Arial"/>
              </a:rPr>
              <a:t>[2] R. M. Swan et al., “AI4MARS: A dataset for terrain-aware autonomous driving on Mars,” CVPR Workshops, 2021.</a:t>
            </a:r>
          </a:p>
          <a:p>
            <a:pPr algn="l">
              <a:spcAft>
                <a:spcPts val="566"/>
              </a:spcAft>
            </a:pPr>
            <a:r>
              <a:rPr sz="2000" b="0" i="0">
                <a:solidFill>
                  <a:srgbClr val="28282D"/>
                </a:solidFill>
                <a:latin typeface="Arial"/>
              </a:rPr>
              <a:t>[3] F. Mohammad, Y. Li, Y. Gao, “Transformers vs CNNs: Enhancing semantic segmentation for Martian terrain classification,” iSpaRo, 2025.</a:t>
            </a:r>
          </a:p>
          <a:p>
            <a:pPr algn="l">
              <a:spcAft>
                <a:spcPts val="566"/>
              </a:spcAft>
            </a:pPr>
            <a:r>
              <a:rPr sz="2000" b="0" i="0">
                <a:solidFill>
                  <a:srgbClr val="28282D"/>
                </a:solidFill>
                <a:latin typeface="Arial"/>
              </a:rPr>
              <a:t>[4] F. Mohammad et al., “Deep learning based semantic segmentation for Mars rover terrain classification,” iSpaRo, 2024.</a:t>
            </a:r>
          </a:p>
          <a:p>
            <a:pPr algn="l">
              <a:spcAft>
                <a:spcPts val="566"/>
              </a:spcAft>
            </a:pPr>
            <a:r>
              <a:rPr sz="2000" b="0" i="0">
                <a:solidFill>
                  <a:srgbClr val="28282D"/>
                </a:solidFill>
                <a:latin typeface="Arial"/>
              </a:rPr>
              <a:t>[5] G. Alain, Y. Bengio, “Understanding intermediate layers using linear classifier probes,” arXiv:1610.01644, 2016.</a:t>
            </a:r>
          </a:p>
          <a:p>
            <a:pPr algn="l">
              <a:spcAft>
                <a:spcPts val="566"/>
              </a:spcAft>
            </a:pPr>
            <a:r>
              <a:rPr sz="2000" b="0" i="0">
                <a:solidFill>
                  <a:srgbClr val="28282D"/>
                </a:solidFill>
                <a:latin typeface="Arial"/>
              </a:rPr>
              <a:t>[6] E. Goh, J. Chen, B. Wilson, “Mars terrain segmentation with less labels,” arXiv:2202.00791, 2022.</a:t>
            </a:r>
          </a:p>
          <a:p>
            <a:pPr algn="l">
              <a:spcAft>
                <a:spcPts val="566"/>
              </a:spcAft>
            </a:pPr>
            <a:r>
              <a:rPr sz="2000" b="0" i="0">
                <a:solidFill>
                  <a:srgbClr val="28282D"/>
                </a:solidFill>
                <a:latin typeface="Arial"/>
              </a:rPr>
              <a:t>[7] P. Durai, G. Doran, “MANTLE: a framework for adaptive in-situ planetary perception using a modular uplink principle,” arXiv:2608.28724, 2026.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5429600" y="35334472"/>
            <a:ext cx="13737600" cy="4875599"/>
          </a:xfrm>
          <a:prstGeom prst="roundRect">
            <a:avLst>
              <a:gd name="adj" fmla="val 1500"/>
            </a:avLst>
          </a:prstGeom>
          <a:solidFill>
            <a:srgbClr val="FAF9FC"/>
          </a:solidFill>
          <a:ln w="25400">
            <a:solidFill>
              <a:srgbClr val="E6E1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15429600" y="35334472"/>
            <a:ext cx="13737600" cy="658800"/>
          </a:xfrm>
          <a:prstGeom prst="rect">
            <a:avLst/>
          </a:prstGeom>
          <a:solidFill>
            <a:srgbClr val="4B2A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15645600" y="35370472"/>
            <a:ext cx="13305600" cy="576000"/>
          </a:xfrm>
          <a:prstGeom prst="rect">
            <a:avLst/>
          </a:prstGeom>
          <a:noFill/>
        </p:spPr>
        <p:txBody>
          <a:bodyPr wrap="none" tIns="18000" anchor="ctr">
            <a:spAutoFit/>
          </a:bodyPr>
          <a:lstStyle/>
          <a:p>
            <a:r>
              <a:rPr sz="2800" b="1" i="0">
                <a:solidFill>
                  <a:srgbClr val="FFFFFF"/>
                </a:solidFill>
                <a:latin typeface="Arial"/>
              </a:rPr>
              <a:t>CONTINUE THE CONVERSATION</a:t>
            </a:r>
          </a:p>
        </p:txBody>
      </p:sp>
      <p:pic>
        <p:nvPicPr>
          <p:cNvPr id="93" name="Picture 92" descr="qr_repo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5717600" y="36173272"/>
            <a:ext cx="2232000" cy="2232000"/>
          </a:xfrm>
          <a:prstGeom prst="rect">
            <a:avLst/>
          </a:prstGeom>
        </p:spPr>
      </p:pic>
      <p:sp>
        <p:nvSpPr>
          <p:cNvPr id="94" name="TextBox 93"/>
          <p:cNvSpPr txBox="1"/>
          <p:nvPr/>
        </p:nvSpPr>
        <p:spPr>
          <a:xfrm>
            <a:off x="18165600" y="36173272"/>
            <a:ext cx="10713600" cy="3795599"/>
          </a:xfrm>
          <a:prstGeom prst="rect">
            <a:avLst/>
          </a:prstGeom>
          <a:noFill/>
        </p:spPr>
        <p:txBody>
          <a:bodyPr wrap="square" lIns="90000" rIns="90000" tIns="36000" bIns="36000">
            <a:spAutoFit/>
          </a:bodyPr>
          <a:lstStyle/>
          <a:p>
            <a:pPr algn="l">
              <a:spcAft>
                <a:spcPts val="850"/>
              </a:spcAft>
            </a:pPr>
            <a:r>
              <a:rPr sz="2000" b="1" i="0">
                <a:solidFill>
                  <a:srgbClr val="28282D"/>
                </a:solidFill>
                <a:latin typeface="Arial"/>
              </a:rPr>
              <a:t>Code, notebook and results: </a:t>
            </a:r>
            <a:r>
              <a:rPr sz="2000" b="0" i="0">
                <a:solidFill>
                  <a:srgbClr val="28282D"/>
                </a:solidFill>
                <a:latin typeface="Arial"/>
              </a:rPr>
              <a:t>https://github.com/gonzaquis29/DinoV3-AI4Mars</a:t>
            </a:r>
          </a:p>
          <a:p>
            <a:pPr algn="l">
              <a:spcAft>
                <a:spcPts val="850"/>
              </a:spcAft>
            </a:pPr>
            <a:r>
              <a:rPr sz="2000" b="1" i="0">
                <a:solidFill>
                  <a:srgbClr val="28282D"/>
                </a:solidFill>
                <a:latin typeface="Arial"/>
              </a:rPr>
              <a:t>Contact: </a:t>
            </a:r>
            <a:r>
              <a:rPr sz="2000" b="0" i="0">
                <a:solidFill>
                  <a:srgbClr val="28282D"/>
                </a:solidFill>
                <a:latin typeface="Arial"/>
              </a:rPr>
              <a:t>gquispeo@pucp.edu.pe · meza.gustavo@pucp.edu.pe · david.rodriguezc@pucp.edu.pe</a:t>
            </a:r>
          </a:p>
          <a:p>
            <a:pPr algn="l">
              <a:spcAft>
                <a:spcPts val="850"/>
              </a:spcAft>
            </a:pPr>
            <a:r>
              <a:rPr sz="2000" b="1" i="0">
                <a:solidFill>
                  <a:srgbClr val="28282D"/>
                </a:solidFill>
                <a:latin typeface="Arial"/>
              </a:rPr>
              <a:t>Data and model: </a:t>
            </a:r>
            <a:r>
              <a:rPr sz="2000" b="0" i="0">
                <a:solidFill>
                  <a:srgbClr val="28282D"/>
                </a:solidFill>
                <a:latin typeface="Arial"/>
              </a:rPr>
              <a:t>AI4Mars (NASA/JPL), DINOv3 (Meta AI). Compute: free-tier Kaggle GPU.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410</Words>
  <Application>Microsoft Office PowerPoint</Application>
  <PresentationFormat>Personalizado</PresentationFormat>
  <Paragraphs>25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Victor Andres Ayma Quirita</cp:lastModifiedBy>
  <cp:revision>51</cp:revision>
  <dcterms:created xsi:type="dcterms:W3CDTF">2013-01-27T09:14:16Z</dcterms:created>
  <dcterms:modified xsi:type="dcterms:W3CDTF">2026-09-25T23:21:07Z</dcterms:modified>
  <cp:category/>
</cp:coreProperties>
</file>